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 Bold" charset="1" panose="00000800000000000000"/>
      <p:regular r:id="rId19"/>
    </p:embeddedFont>
    <p:embeddedFont>
      <p:font typeface="Poppins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853594" cy="5143500"/>
          </a:xfrm>
          <a:custGeom>
            <a:avLst/>
            <a:gdLst/>
            <a:ahLst/>
            <a:cxnLst/>
            <a:rect r="r" b="b" t="t" l="l"/>
            <a:pathLst>
              <a:path h="5143500" w="4853594">
                <a:moveTo>
                  <a:pt x="0" y="0"/>
                </a:moveTo>
                <a:lnTo>
                  <a:pt x="4853593" y="0"/>
                </a:lnTo>
                <a:lnTo>
                  <a:pt x="4853593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73623" y="7715250"/>
            <a:ext cx="4853594" cy="5143500"/>
          </a:xfrm>
          <a:custGeom>
            <a:avLst/>
            <a:gdLst/>
            <a:ahLst/>
            <a:cxnLst/>
            <a:rect r="r" b="b" t="t" l="l"/>
            <a:pathLst>
              <a:path h="5143500" w="4853594">
                <a:moveTo>
                  <a:pt x="0" y="0"/>
                </a:moveTo>
                <a:lnTo>
                  <a:pt x="4853594" y="0"/>
                </a:lnTo>
                <a:lnTo>
                  <a:pt x="4853594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51637" y="2275417"/>
            <a:ext cx="14584725" cy="1964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b="true" sz="80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MEDIA PEMBELAJARAN</a:t>
            </a:r>
          </a:p>
          <a:p>
            <a:pPr algn="ctr">
              <a:lnSpc>
                <a:spcPts val="5700"/>
              </a:lnSpc>
            </a:pPr>
            <a:r>
              <a:rPr lang="en-US" b="true" sz="50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MULTIMED</a:t>
            </a:r>
            <a:r>
              <a:rPr lang="en-US" b="true" sz="50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IA DALAM PEMBELAJARAN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143500"/>
            <a:ext cx="4963461" cy="6348614"/>
          </a:xfrm>
          <a:custGeom>
            <a:avLst/>
            <a:gdLst/>
            <a:ahLst/>
            <a:cxnLst/>
            <a:rect r="r" b="b" t="t" l="l"/>
            <a:pathLst>
              <a:path h="6348614" w="4963461">
                <a:moveTo>
                  <a:pt x="0" y="0"/>
                </a:moveTo>
                <a:lnTo>
                  <a:pt x="4963462" y="0"/>
                </a:lnTo>
                <a:lnTo>
                  <a:pt x="4963462" y="6348614"/>
                </a:lnTo>
                <a:lnTo>
                  <a:pt x="0" y="634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48790" y="-1205114"/>
            <a:ext cx="4963461" cy="6348614"/>
          </a:xfrm>
          <a:custGeom>
            <a:avLst/>
            <a:gdLst/>
            <a:ahLst/>
            <a:cxnLst/>
            <a:rect r="r" b="b" t="t" l="l"/>
            <a:pathLst>
              <a:path h="6348614" w="4963461">
                <a:moveTo>
                  <a:pt x="0" y="0"/>
                </a:moveTo>
                <a:lnTo>
                  <a:pt x="4963462" y="0"/>
                </a:lnTo>
                <a:lnTo>
                  <a:pt x="4963462" y="6348614"/>
                </a:lnTo>
                <a:lnTo>
                  <a:pt x="0" y="634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92820" y="4514676"/>
            <a:ext cx="14102361" cy="628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4"/>
              </a:lnSpc>
            </a:pPr>
            <a:r>
              <a:rPr lang="en-US" sz="4038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Pendidikan Ekonomi - STKIP Majenang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34002" y="5521539"/>
            <a:ext cx="14102361" cy="1207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4"/>
              </a:lnSpc>
            </a:pPr>
            <a:r>
              <a:rPr lang="en-US" sz="4038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Galih Bagaskoro, M.Kom</a:t>
            </a:r>
          </a:p>
          <a:p>
            <a:pPr algn="ctr">
              <a:lnSpc>
                <a:spcPts val="4604"/>
              </a:lnSpc>
            </a:pPr>
            <a:r>
              <a:rPr lang="en-US" sz="4038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 Pertemuan 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52269" y="1859615"/>
            <a:ext cx="7383461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PENDAHULUAN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26309" y="3717295"/>
            <a:ext cx="13035383" cy="527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Perkembangan teknologi telah mendorong penggunaan multimedia dalam pembelajaran.</a:t>
            </a:r>
          </a:p>
          <a:p>
            <a:pPr algn="just">
              <a:lnSpc>
                <a:spcPts val="4145"/>
              </a:lnSpc>
            </a:pPr>
          </a:p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Multimedia menggabungkan berbagai elemen seperti teks, gambar, audio, dan video dalam satu media.</a:t>
            </a:r>
          </a:p>
          <a:p>
            <a:pPr algn="just">
              <a:lnSpc>
                <a:spcPts val="4145"/>
              </a:lnSpc>
            </a:pPr>
          </a:p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Penggunaan multimedia dapat membuat pembelajaran menjadi lebih menarik dan mudah dipahami.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54434" y="1028700"/>
            <a:ext cx="4140292" cy="2422071"/>
          </a:xfrm>
          <a:custGeom>
            <a:avLst/>
            <a:gdLst/>
            <a:ahLst/>
            <a:cxnLst/>
            <a:rect r="r" b="b" t="t" l="l"/>
            <a:pathLst>
              <a:path h="2422071" w="4140292">
                <a:moveTo>
                  <a:pt x="0" y="0"/>
                </a:moveTo>
                <a:lnTo>
                  <a:pt x="4140292" y="0"/>
                </a:lnTo>
                <a:lnTo>
                  <a:pt x="4140292" y="2422071"/>
                </a:lnTo>
                <a:lnTo>
                  <a:pt x="0" y="24220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26309" y="4436752"/>
            <a:ext cx="13035383" cy="318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Mengapa video pembelajaran lebih menarik dibandingkan buku teks?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pakah semua video pembelajaran efektif?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Ap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 yang membuat sebuah video pembelajaran menjadi mudah dipahami?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37765" y="1601532"/>
            <a:ext cx="13634774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PENGERTIAN MULTIMEDIA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48137" y="3717295"/>
            <a:ext cx="13814030" cy="370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Multimedia adalah penggunaan berbagai jenis media seperti teks, gambar, audio, dan video secara bersamaan dalam proses pembelajaran.</a:t>
            </a:r>
          </a:p>
          <a:p>
            <a:pPr algn="just">
              <a:lnSpc>
                <a:spcPts val="4145"/>
              </a:lnSpc>
            </a:pPr>
          </a:p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Multim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edia bertujuan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 untuk meningkatkan pemahaman peserta didik melalui berbagai bentuk penyajian informasi.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35496" y="1601532"/>
            <a:ext cx="12217008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 KOMPONEN MULTIMEDIA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35496" y="3788613"/>
            <a:ext cx="13814030" cy="370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Multimedia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 terdiri dari beberapa komponen utama: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Tek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amb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ar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Audio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Video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Animasi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54513" y="1601532"/>
            <a:ext cx="13518026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KELEBIHAN MULTIMEDIA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94108" y="3216365"/>
            <a:ext cx="13099784" cy="292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058" indent="-392529" lvl="1">
              <a:lnSpc>
                <a:spcPts val="4581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Membuat pembelajaran lebih menarik</a:t>
            </a:r>
          </a:p>
          <a:p>
            <a:pPr algn="l" marL="785058" indent="-392529" lvl="1">
              <a:lnSpc>
                <a:spcPts val="4581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Membantu memahami konsep yang kompleks</a:t>
            </a:r>
          </a:p>
          <a:p>
            <a:pPr algn="l" marL="785058" indent="-392529" lvl="1">
              <a:lnSpc>
                <a:spcPts val="4581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Meningkatkan motivasi belajar</a:t>
            </a:r>
          </a:p>
          <a:p>
            <a:pPr algn="l" marL="785058" indent="-392529" lvl="1">
              <a:lnSpc>
                <a:spcPts val="4581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Mengaktifkan lebih dari satu indera</a:t>
            </a:r>
          </a:p>
          <a:p>
            <a:pPr algn="l">
              <a:lnSpc>
                <a:spcPts val="4581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25564" y="1601532"/>
            <a:ext cx="12519570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KEKURANGAN MULTIMEDIA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25564" y="3163569"/>
            <a:ext cx="12236872" cy="242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85058" indent="-392529" lvl="1">
              <a:lnSpc>
                <a:spcPts val="4727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embutuhkan perangkat da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n teknologi</a:t>
            </a:r>
          </a:p>
          <a:p>
            <a:pPr algn="just" marL="785058" indent="-392529" lvl="1">
              <a:lnSpc>
                <a:spcPts val="4727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Membutuhkan w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aktu dalam pembuatan</a:t>
            </a:r>
          </a:p>
          <a:p>
            <a:pPr algn="just" marL="785058" indent="-392529" lvl="1">
              <a:lnSpc>
                <a:spcPts val="4727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Bisa membingungkan jika terlalu kompleks</a:t>
            </a:r>
          </a:p>
          <a:p>
            <a:pPr algn="just">
              <a:lnSpc>
                <a:spcPts val="4727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35496" y="1601532"/>
            <a:ext cx="12217008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PRINSIP MULTIMEDIA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26309" y="3489873"/>
            <a:ext cx="13035383" cy="3558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90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Dalam pengg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unaan mult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imedia, perlu diperhatikan:</a:t>
            </a:r>
          </a:p>
          <a:p>
            <a:pPr algn="just" marL="785058" indent="-392529" lvl="1">
              <a:lnSpc>
                <a:spcPts val="4690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Jan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gan terlalu banyak teks</a:t>
            </a:r>
          </a:p>
          <a:p>
            <a:pPr algn="just" marL="785058" indent="-392529" lvl="1">
              <a:lnSpc>
                <a:spcPts val="4690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Gunakan visual yang relevan</a:t>
            </a:r>
          </a:p>
          <a:p>
            <a:pPr algn="just" marL="785058" indent="-392529" lvl="1">
              <a:lnSpc>
                <a:spcPts val="4690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Gunakan audio yang jelas</a:t>
            </a:r>
          </a:p>
          <a:p>
            <a:pPr algn="just" marL="785058" indent="-392529" lvl="1">
              <a:lnSpc>
                <a:spcPts val="4690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Hindari informasi berlebihan</a:t>
            </a:r>
          </a:p>
          <a:p>
            <a:pPr algn="just">
              <a:lnSpc>
                <a:spcPts val="469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58509" y="1859615"/>
            <a:ext cx="11610799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HUBUNGAN DENGAN VIDEO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8509" y="3379902"/>
            <a:ext cx="13035383" cy="496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8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Video pembelajaran merupakan salah satu bentuk multimedia.</a:t>
            </a:r>
          </a:p>
          <a:p>
            <a:pPr algn="just">
              <a:lnSpc>
                <a:spcPts val="4908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ideo yang baik har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us: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miliki alur yang jelas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Tidak terlalu panj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ang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Fokus pada materi utama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Menggunakan visual yang mendukung</a:t>
            </a:r>
          </a:p>
          <a:p>
            <a:pPr algn="just">
              <a:lnSpc>
                <a:spcPts val="4908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18052" y="1009650"/>
            <a:ext cx="10168188" cy="1974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MULTIMEDIA DALAM MODEL ADDIE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8509" y="2760777"/>
            <a:ext cx="13814030" cy="4350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8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Pe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ngembangan multimedia juga mengikuti tahapan: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Analyze → menentukan kebutuhan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Design → menentukan konsep video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Developm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ent → m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embuat video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Implementation → digunakan dalam pembelajaran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Eval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uation → mengevaluasi hasil</a:t>
            </a:r>
          </a:p>
          <a:p>
            <a:pPr algn="just">
              <a:lnSpc>
                <a:spcPts val="4908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85046" y="1859615"/>
            <a:ext cx="10317908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CONTOH PENERAPAN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8509" y="3541082"/>
            <a:ext cx="13035383" cy="213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Materi: Pasar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Multimedia → video + grafik + animasi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Has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il → siswa lebih mudah memahami konsep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52269" y="1859615"/>
            <a:ext cx="7383461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KESIMPULAN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8509" y="3541082"/>
            <a:ext cx="13035383" cy="318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Multimedia merupakan gabungan berbagai media yang dapat meningkatkan efektivitas pembelajaran.</a:t>
            </a:r>
          </a:p>
          <a:p>
            <a:pPr algn="just">
              <a:lnSpc>
                <a:spcPts val="4145"/>
              </a:lnSpc>
            </a:pPr>
          </a:p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Penggunaan multimedia yang tepat dapat membantu peserta didik memahami materi dengan lebih baik.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43810" y="1859615"/>
            <a:ext cx="8200379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DAFTAR PUSTAKA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8509" y="3969707"/>
            <a:ext cx="13035383" cy="3691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0753" indent="-295376" lvl="1">
              <a:lnSpc>
                <a:spcPts val="3119"/>
              </a:lnSpc>
              <a:buFont typeface="Arial"/>
              <a:buChar char="•"/>
            </a:pPr>
            <a:r>
              <a:rPr lang="en-US" sz="27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Daryanto. (2016). Media Pembelajaran: Peranannya Sangat Penting dalam Mencapai Tujuan Pembelajaran. Yogyakarta: Gava Media.</a:t>
            </a:r>
          </a:p>
          <a:p>
            <a:pPr algn="l" marL="590753" indent="-295376" lvl="1">
              <a:lnSpc>
                <a:spcPts val="3119"/>
              </a:lnSpc>
              <a:buFont typeface="Arial"/>
              <a:buChar char="•"/>
            </a:pPr>
            <a:r>
              <a:rPr lang="en-US" sz="27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Sanaky, H. A. (2013). Media Pembelajaran Interaktif-Inovatif. Yogyakarta: Kaukaba.</a:t>
            </a:r>
          </a:p>
          <a:p>
            <a:pPr algn="l" marL="590753" indent="-295376" lvl="1">
              <a:lnSpc>
                <a:spcPts val="3119"/>
              </a:lnSpc>
              <a:buFont typeface="Arial"/>
              <a:buChar char="•"/>
            </a:pPr>
            <a:r>
              <a:rPr lang="en-US" sz="27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Arifin, A., Alimuddin, J., &amp; Pratiwi, W. (2024). Upaya Peningkatan Hasil Belajar melalui Media Audio Visual.</a:t>
            </a:r>
          </a:p>
          <a:p>
            <a:pPr algn="l" marL="590753" indent="-295376" lvl="1">
              <a:lnSpc>
                <a:spcPts val="3119"/>
              </a:lnSpc>
              <a:buFont typeface="Arial"/>
              <a:buChar char="•"/>
            </a:pPr>
            <a:r>
              <a:rPr lang="en-US" sz="27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Anggraini, F., et al. (2025). Pengembangan Media Pembelajaran Berbasis Virtual Reality.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DAHDMN94_ac</dc:identifier>
  <dcterms:modified xsi:type="dcterms:W3CDTF">2011-08-01T06:04:30Z</dcterms:modified>
  <cp:revision>1</cp:revision>
  <dc:title>Media Pembelajaran Pertemua 2</dc:title>
</cp:coreProperties>
</file>