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Poppins" panose="00000500000000000000" pitchFamily="2" charset="0"/>
      <p:regular r:id="rId14"/>
    </p:embeddedFont>
    <p:embeddedFont>
      <p:font typeface="Poppins Bold" panose="00000800000000000000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83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853594" cy="5143500"/>
          </a:xfrm>
          <a:custGeom>
            <a:avLst/>
            <a:gdLst/>
            <a:ahLst/>
            <a:cxnLst/>
            <a:rect l="l" t="t" r="r" b="b"/>
            <a:pathLst>
              <a:path w="4853594" h="5143500">
                <a:moveTo>
                  <a:pt x="0" y="0"/>
                </a:moveTo>
                <a:lnTo>
                  <a:pt x="4853593" y="0"/>
                </a:lnTo>
                <a:lnTo>
                  <a:pt x="4853593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873623" y="7715250"/>
            <a:ext cx="4853594" cy="5143500"/>
          </a:xfrm>
          <a:custGeom>
            <a:avLst/>
            <a:gdLst/>
            <a:ahLst/>
            <a:cxnLst/>
            <a:rect l="l" t="t" r="r" b="b"/>
            <a:pathLst>
              <a:path w="4853594" h="5143500">
                <a:moveTo>
                  <a:pt x="0" y="0"/>
                </a:moveTo>
                <a:lnTo>
                  <a:pt x="4853594" y="0"/>
                </a:lnTo>
                <a:lnTo>
                  <a:pt x="4853594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851637" y="2275417"/>
            <a:ext cx="14584725" cy="1964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20"/>
              </a:lnSpc>
            </a:pPr>
            <a:r>
              <a:rPr lang="en-US" sz="8000" b="1" dirty="0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MEDIA PEMBELAJARAN</a:t>
            </a:r>
          </a:p>
          <a:p>
            <a:pPr algn="ctr">
              <a:lnSpc>
                <a:spcPts val="5700"/>
              </a:lnSpc>
            </a:pPr>
            <a:r>
              <a:rPr lang="en-US" sz="5000" b="1" dirty="0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JENIS MEDIA PEMBELAJARAN</a:t>
            </a:r>
          </a:p>
        </p:txBody>
      </p:sp>
      <p:sp>
        <p:nvSpPr>
          <p:cNvPr id="5" name="Freeform 5"/>
          <p:cNvSpPr/>
          <p:nvPr/>
        </p:nvSpPr>
        <p:spPr>
          <a:xfrm>
            <a:off x="-2481731" y="5143500"/>
            <a:ext cx="4963461" cy="6348614"/>
          </a:xfrm>
          <a:custGeom>
            <a:avLst/>
            <a:gdLst/>
            <a:ahLst/>
            <a:cxnLst/>
            <a:rect l="l" t="t" r="r" b="b"/>
            <a:pathLst>
              <a:path w="4963461" h="6348614">
                <a:moveTo>
                  <a:pt x="0" y="0"/>
                </a:moveTo>
                <a:lnTo>
                  <a:pt x="4963462" y="0"/>
                </a:lnTo>
                <a:lnTo>
                  <a:pt x="4963462" y="6348614"/>
                </a:lnTo>
                <a:lnTo>
                  <a:pt x="0" y="634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148790" y="-1205114"/>
            <a:ext cx="4963461" cy="6348614"/>
          </a:xfrm>
          <a:custGeom>
            <a:avLst/>
            <a:gdLst/>
            <a:ahLst/>
            <a:cxnLst/>
            <a:rect l="l" t="t" r="r" b="b"/>
            <a:pathLst>
              <a:path w="4963461" h="6348614">
                <a:moveTo>
                  <a:pt x="0" y="0"/>
                </a:moveTo>
                <a:lnTo>
                  <a:pt x="4963462" y="0"/>
                </a:lnTo>
                <a:lnTo>
                  <a:pt x="4963462" y="6348614"/>
                </a:lnTo>
                <a:lnTo>
                  <a:pt x="0" y="634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092820" y="4367549"/>
            <a:ext cx="14102361" cy="628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4"/>
              </a:lnSpc>
            </a:pPr>
            <a:r>
              <a:rPr lang="en-US" sz="4038" dirty="0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Pendidikan Ekonomi - STKIP </a:t>
            </a:r>
            <a:r>
              <a:rPr lang="en-US" sz="4038" dirty="0" err="1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Majenang</a:t>
            </a:r>
            <a:endParaRPr lang="en-US" sz="4038" dirty="0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366245" y="5653424"/>
            <a:ext cx="14102361" cy="1207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4"/>
              </a:lnSpc>
            </a:pPr>
            <a:r>
              <a:rPr lang="en-US" sz="4038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Galih Bagaskoro, M.Kom</a:t>
            </a:r>
          </a:p>
          <a:p>
            <a:pPr algn="ctr">
              <a:lnSpc>
                <a:spcPts val="4604"/>
              </a:lnSpc>
            </a:pPr>
            <a:r>
              <a:rPr lang="en-US" sz="4038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 Pertemuan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452269" y="1859615"/>
            <a:ext cx="7383461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PENDAHULUAN</a:t>
            </a:r>
          </a:p>
        </p:txBody>
      </p:sp>
      <p:sp>
        <p:nvSpPr>
          <p:cNvPr id="5" name="Freeform 5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626309" y="3717295"/>
            <a:ext cx="13035383" cy="5799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Media pembelajaran memiliki berbagai jenis yang dapat digunakan sesuai dengan kebutuhan pembelajaran.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Setiap jenis media memiliki kelebihan dan kekurangan masing-masing.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Oleh karena itu, seorang pendidik harus mampu memilih jenis media yang tepat agar pembelajaran menjadi efektif.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654434" y="1028700"/>
            <a:ext cx="4140292" cy="2422071"/>
          </a:xfrm>
          <a:custGeom>
            <a:avLst/>
            <a:gdLst/>
            <a:ahLst/>
            <a:cxnLst/>
            <a:rect l="l" t="t" r="r" b="b"/>
            <a:pathLst>
              <a:path w="4140292" h="2422071">
                <a:moveTo>
                  <a:pt x="0" y="0"/>
                </a:moveTo>
                <a:lnTo>
                  <a:pt x="4140292" y="0"/>
                </a:lnTo>
                <a:lnTo>
                  <a:pt x="4140292" y="2422071"/>
                </a:lnTo>
                <a:lnTo>
                  <a:pt x="0" y="242207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626309" y="4436752"/>
            <a:ext cx="13035383" cy="3704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5058" lvl="1" indent="-392529" algn="just">
              <a:lnSpc>
                <a:spcPts val="4145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Apakah semua media pembelajaran memiliki fungsi yang sama?</a:t>
            </a:r>
          </a:p>
          <a:p>
            <a:pPr marL="785058" lvl="1" indent="-392529" algn="just">
              <a:lnSpc>
                <a:spcPts val="4145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Mengapa ada guru yang menggunakan video, sementara yang lain hanya menggunakan PPT?</a:t>
            </a:r>
          </a:p>
          <a:p>
            <a:pPr marL="785058" lvl="1" indent="-392529" algn="just">
              <a:lnSpc>
                <a:spcPts val="4145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Menurut kalian, media apa yang paling efektif untuk pembelajaran ekonomi?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255531" y="1601532"/>
            <a:ext cx="12217008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PENGERTIAN JENIS MEDIA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658509" y="3375148"/>
            <a:ext cx="13814030" cy="3704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Jenis media pembelajaran adalah pengelompokan media berdasarkan karakteristik dan cara penyampaiannya dalam proses pembelajaran.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Setiap jenis media memiliki peran yang berbeda dalam membantu pemahaman peserta didik.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255531" y="1601532"/>
            <a:ext cx="12217008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MEDIA VISUAL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658509" y="3810434"/>
            <a:ext cx="13814030" cy="4752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Media visual adalah media yang hanya dapat dilihat.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Contoh: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785058" lvl="1" indent="-392529" algn="just">
              <a:lnSpc>
                <a:spcPts val="4145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Grafik</a:t>
            </a:r>
          </a:p>
          <a:p>
            <a:pPr marL="785058" lvl="1" indent="-392529" algn="just">
              <a:lnSpc>
                <a:spcPts val="4145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Diagram</a:t>
            </a:r>
          </a:p>
          <a:p>
            <a:pPr marL="785058" lvl="1" indent="-392529" algn="just">
              <a:lnSpc>
                <a:spcPts val="4145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Poster</a:t>
            </a:r>
          </a:p>
          <a:p>
            <a:pPr marL="785058" lvl="1" indent="-392529" algn="just">
              <a:lnSpc>
                <a:spcPts val="4145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Infografis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954513" y="1601532"/>
            <a:ext cx="13518026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MEDIA AUDIO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94108" y="3216365"/>
            <a:ext cx="13099784" cy="46681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81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Media audio adalah media yang hanya dapat didengar.</a:t>
            </a:r>
          </a:p>
          <a:p>
            <a:pPr algn="l">
              <a:lnSpc>
                <a:spcPts val="4581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4581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Contoh:</a:t>
            </a:r>
          </a:p>
          <a:p>
            <a:pPr algn="l">
              <a:lnSpc>
                <a:spcPts val="4581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785058" lvl="1" indent="-392529" algn="l">
              <a:lnSpc>
                <a:spcPts val="4581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Podcast</a:t>
            </a:r>
          </a:p>
          <a:p>
            <a:pPr marL="785058" lvl="1" indent="-392529" algn="l">
              <a:lnSpc>
                <a:spcPts val="4581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Rekaman suara</a:t>
            </a:r>
          </a:p>
          <a:p>
            <a:pPr marL="785058" lvl="1" indent="-392529" algn="l">
              <a:lnSpc>
                <a:spcPts val="4581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Berita ekonomi</a:t>
            </a:r>
          </a:p>
          <a:p>
            <a:pPr algn="l">
              <a:lnSpc>
                <a:spcPts val="4581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952969" y="1601532"/>
            <a:ext cx="12519570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MEDIA AUDIO VISUAL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025564" y="3163569"/>
            <a:ext cx="12236872" cy="5421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27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Media audio visual adalah media yang dapat dilihat dan didengar.</a:t>
            </a:r>
          </a:p>
          <a:p>
            <a:pPr algn="just">
              <a:lnSpc>
                <a:spcPts val="4727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727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Contoh:</a:t>
            </a:r>
          </a:p>
          <a:p>
            <a:pPr algn="just">
              <a:lnSpc>
                <a:spcPts val="4727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785058" lvl="1" indent="-392529" algn="just">
              <a:lnSpc>
                <a:spcPts val="4727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Video pembelajaran</a:t>
            </a:r>
          </a:p>
          <a:p>
            <a:pPr marL="785058" lvl="1" indent="-392529" algn="just">
              <a:lnSpc>
                <a:spcPts val="4727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Animasi</a:t>
            </a:r>
          </a:p>
          <a:p>
            <a:pPr marL="785058" lvl="1" indent="-392529" algn="just">
              <a:lnSpc>
                <a:spcPts val="4727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Film edukasi</a:t>
            </a:r>
          </a:p>
          <a:p>
            <a:pPr algn="just">
              <a:lnSpc>
                <a:spcPts val="4727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035496" y="1601532"/>
            <a:ext cx="12217008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MEDIA DIGITAL &amp; INTERAKTIF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626309" y="3489873"/>
            <a:ext cx="13035383" cy="5330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690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Media berbasis teknologi yang memungkinkan interaksi.</a:t>
            </a:r>
          </a:p>
          <a:p>
            <a:pPr algn="just">
              <a:lnSpc>
                <a:spcPts val="4690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690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Contoh:</a:t>
            </a:r>
          </a:p>
          <a:p>
            <a:pPr algn="just">
              <a:lnSpc>
                <a:spcPts val="4690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785058" lvl="1" indent="-392529" algn="just">
              <a:lnSpc>
                <a:spcPts val="4690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Google Classroom</a:t>
            </a:r>
          </a:p>
          <a:p>
            <a:pPr marL="785058" lvl="1" indent="-392529" algn="just">
              <a:lnSpc>
                <a:spcPts val="4690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Quizizz / Kahoot</a:t>
            </a:r>
          </a:p>
          <a:p>
            <a:pPr marL="785058" lvl="1" indent="-392529" algn="just">
              <a:lnSpc>
                <a:spcPts val="4690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Canva</a:t>
            </a:r>
          </a:p>
          <a:p>
            <a:pPr marL="785058" lvl="1" indent="-392529" algn="just">
              <a:lnSpc>
                <a:spcPts val="4690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Website pembelajaran</a:t>
            </a:r>
          </a:p>
          <a:p>
            <a:pPr algn="just">
              <a:lnSpc>
                <a:spcPts val="4690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801760" y="1859615"/>
            <a:ext cx="8684479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MEDIA SIMULASI</a:t>
            </a:r>
          </a:p>
        </p:txBody>
      </p:sp>
      <p:sp>
        <p:nvSpPr>
          <p:cNvPr id="5" name="Freeform 5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658509" y="3379902"/>
            <a:ext cx="13035383" cy="4969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08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Media yang melibatkan aktivitas langsung.</a:t>
            </a:r>
          </a:p>
          <a:p>
            <a:pPr algn="just">
              <a:lnSpc>
                <a:spcPts val="4908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908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Contoh:</a:t>
            </a:r>
          </a:p>
          <a:p>
            <a:pPr algn="just">
              <a:lnSpc>
                <a:spcPts val="4908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785058" lvl="1" indent="-392529" algn="just">
              <a:lnSpc>
                <a:spcPts val="4908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Role play (jual beli)</a:t>
            </a:r>
          </a:p>
          <a:p>
            <a:pPr marL="785058" lvl="1" indent="-392529" algn="just">
              <a:lnSpc>
                <a:spcPts val="4908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Simulasi pasar</a:t>
            </a:r>
          </a:p>
          <a:p>
            <a:pPr marL="785058" lvl="1" indent="-392529" algn="just">
              <a:lnSpc>
                <a:spcPts val="4908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Game ekonomi</a:t>
            </a:r>
          </a:p>
          <a:p>
            <a:pPr algn="just">
              <a:lnSpc>
                <a:spcPts val="4908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801760" y="1009650"/>
            <a:ext cx="8684479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PERBANDINGAN</a:t>
            </a:r>
          </a:p>
        </p:txBody>
      </p:sp>
      <p:sp>
        <p:nvSpPr>
          <p:cNvPr id="5" name="Freeform 5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658509" y="2760777"/>
            <a:ext cx="13814030" cy="5588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08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Tidak semua media cocok untuk semua materi.</a:t>
            </a:r>
          </a:p>
          <a:p>
            <a:pPr algn="just">
              <a:lnSpc>
                <a:spcPts val="4908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908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Contoh:</a:t>
            </a:r>
          </a:p>
          <a:p>
            <a:pPr algn="just">
              <a:lnSpc>
                <a:spcPts val="4908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908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Materi: Inflasi</a:t>
            </a:r>
          </a:p>
          <a:p>
            <a:pPr marL="785058" lvl="1" indent="-392529" algn="just">
              <a:lnSpc>
                <a:spcPts val="4908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Grafik → memahami data</a:t>
            </a:r>
          </a:p>
          <a:p>
            <a:pPr marL="785058" lvl="1" indent="-392529" algn="just">
              <a:lnSpc>
                <a:spcPts val="4908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Video → memahami konsep</a:t>
            </a:r>
          </a:p>
          <a:p>
            <a:pPr marL="785058" lvl="1" indent="-392529" algn="just">
              <a:lnSpc>
                <a:spcPts val="4908"/>
              </a:lnSpc>
              <a:buFont typeface="Arial"/>
              <a:buChar char="•"/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Simulasi → memahami dampak</a:t>
            </a:r>
          </a:p>
          <a:p>
            <a:pPr algn="just">
              <a:lnSpc>
                <a:spcPts val="4908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452269" y="1859615"/>
            <a:ext cx="7383461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KESIMPULAN</a:t>
            </a:r>
          </a:p>
        </p:txBody>
      </p:sp>
      <p:sp>
        <p:nvSpPr>
          <p:cNvPr id="5" name="Freeform 5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658509" y="3541082"/>
            <a:ext cx="13035383" cy="3704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Media pembelajaran memiliki berbagai jenis yang dapat digunakan sesuai dengan kebutuhan.</a:t>
            </a:r>
          </a:p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Pemilihan jenis media harus disesuaikan dengan tujuan, materi, dan karakteristik peserta didik.</a:t>
            </a:r>
          </a:p>
          <a:p>
            <a:pPr algn="just">
              <a:lnSpc>
                <a:spcPts val="4145"/>
              </a:lnSpc>
            </a:pPr>
            <a:r>
              <a:rPr lang="en-US" sz="36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Penggunaan media yang tepat akan meningkatkan efektivitas pembelajaran.</a:t>
            </a:r>
          </a:p>
          <a:p>
            <a:pPr algn="just">
              <a:lnSpc>
                <a:spcPts val="4145"/>
              </a:lnSpc>
            </a:pPr>
            <a:endParaRPr lang="en-US" sz="36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4624" y="-1856884"/>
            <a:ext cx="4471271" cy="4738341"/>
          </a:xfrm>
          <a:custGeom>
            <a:avLst/>
            <a:gdLst/>
            <a:ahLst/>
            <a:cxnLst/>
            <a:rect l="l" t="t" r="r" b="b"/>
            <a:pathLst>
              <a:path w="4471271" h="4738341">
                <a:moveTo>
                  <a:pt x="0" y="0"/>
                </a:moveTo>
                <a:lnTo>
                  <a:pt x="4471271" y="0"/>
                </a:lnTo>
                <a:lnTo>
                  <a:pt x="4471271" y="4738341"/>
                </a:lnTo>
                <a:lnTo>
                  <a:pt x="0" y="473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06075" y="8267015"/>
            <a:ext cx="4332928" cy="4591735"/>
          </a:xfrm>
          <a:custGeom>
            <a:avLst/>
            <a:gdLst/>
            <a:ahLst/>
            <a:cxnLst/>
            <a:rect l="l" t="t" r="r" b="b"/>
            <a:pathLst>
              <a:path w="4332928" h="4591735">
                <a:moveTo>
                  <a:pt x="0" y="0"/>
                </a:moveTo>
                <a:lnTo>
                  <a:pt x="4332928" y="0"/>
                </a:lnTo>
                <a:lnTo>
                  <a:pt x="4332928" y="4591735"/>
                </a:lnTo>
                <a:lnTo>
                  <a:pt x="0" y="4591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043810" y="1859615"/>
            <a:ext cx="8200379" cy="1021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23"/>
              </a:lnSpc>
            </a:pPr>
            <a:r>
              <a:rPr lang="en-US" sz="6600" b="1">
                <a:solidFill>
                  <a:srgbClr val="21625D"/>
                </a:solidFill>
                <a:latin typeface="Poppins Bold"/>
                <a:ea typeface="Poppins Bold"/>
                <a:cs typeface="Poppins Bold"/>
                <a:sym typeface="Poppins Bold"/>
              </a:rPr>
              <a:t>DAFTAR PUSTAKA</a:t>
            </a:r>
          </a:p>
        </p:txBody>
      </p:sp>
      <p:sp>
        <p:nvSpPr>
          <p:cNvPr id="5" name="Freeform 5"/>
          <p:cNvSpPr/>
          <p:nvPr/>
        </p:nvSpPr>
        <p:spPr>
          <a:xfrm>
            <a:off x="-2481731" y="5907492"/>
            <a:ext cx="4366159" cy="5584622"/>
          </a:xfrm>
          <a:custGeom>
            <a:avLst/>
            <a:gdLst/>
            <a:ahLst/>
            <a:cxnLst/>
            <a:rect l="l" t="t" r="r" b="b"/>
            <a:pathLst>
              <a:path w="4366159" h="5584622">
                <a:moveTo>
                  <a:pt x="0" y="0"/>
                </a:moveTo>
                <a:lnTo>
                  <a:pt x="4366159" y="0"/>
                </a:lnTo>
                <a:lnTo>
                  <a:pt x="4366159" y="5584622"/>
                </a:lnTo>
                <a:lnTo>
                  <a:pt x="0" y="55846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693892" y="-1205114"/>
            <a:ext cx="4418360" cy="5651391"/>
          </a:xfrm>
          <a:custGeom>
            <a:avLst/>
            <a:gdLst/>
            <a:ahLst/>
            <a:cxnLst/>
            <a:rect l="l" t="t" r="r" b="b"/>
            <a:pathLst>
              <a:path w="4418360" h="5651391">
                <a:moveTo>
                  <a:pt x="0" y="0"/>
                </a:moveTo>
                <a:lnTo>
                  <a:pt x="4418360" y="0"/>
                </a:lnTo>
                <a:lnTo>
                  <a:pt x="4418360" y="5651391"/>
                </a:lnTo>
                <a:lnTo>
                  <a:pt x="0" y="565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658509" y="3969707"/>
            <a:ext cx="13035383" cy="3691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0753" lvl="1" indent="-295376" algn="l">
              <a:lnSpc>
                <a:spcPts val="3119"/>
              </a:lnSpc>
              <a:buFont typeface="Arial"/>
              <a:buChar char="•"/>
            </a:pPr>
            <a:r>
              <a:rPr lang="en-US" sz="27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Daryanto. (2016). Media Pembelajaran: Peranannya Sangat Penting dalam Mencapai Tujuan Pembelajaran. Yogyakarta: Gava Media.</a:t>
            </a:r>
          </a:p>
          <a:p>
            <a:pPr marL="590753" lvl="1" indent="-295376" algn="l">
              <a:lnSpc>
                <a:spcPts val="3119"/>
              </a:lnSpc>
              <a:buFont typeface="Arial"/>
              <a:buChar char="•"/>
            </a:pPr>
            <a:r>
              <a:rPr lang="en-US" sz="27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Sanaky, H. A. (2013). Media Pembelajaran Interaktif-Inovatif. Yogyakarta: Kaukaba.</a:t>
            </a:r>
          </a:p>
          <a:p>
            <a:pPr marL="590753" lvl="1" indent="-295376" algn="l">
              <a:lnSpc>
                <a:spcPts val="3119"/>
              </a:lnSpc>
              <a:buFont typeface="Arial"/>
              <a:buChar char="•"/>
            </a:pPr>
            <a:r>
              <a:rPr lang="en-US" sz="27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Arifin, A., Alimuddin, J., &amp; Pratiwi, W. (2024). Upaya Peningkatan Hasil Belajar melalui Media Audio Visual.</a:t>
            </a:r>
          </a:p>
          <a:p>
            <a:pPr marL="590753" lvl="1" indent="-295376" algn="l">
              <a:lnSpc>
                <a:spcPts val="3119"/>
              </a:lnSpc>
              <a:buFont typeface="Arial"/>
              <a:buChar char="•"/>
            </a:pPr>
            <a:r>
              <a:rPr lang="en-US" sz="2736">
                <a:solidFill>
                  <a:srgbClr val="21625D"/>
                </a:solidFill>
                <a:latin typeface="Poppins"/>
                <a:ea typeface="Poppins"/>
                <a:cs typeface="Poppins"/>
                <a:sym typeface="Poppins"/>
              </a:rPr>
              <a:t>Anggraini, F., et al. (2025). Pengembangan Media Pembelajaran Berbasis Virtual Reality.</a:t>
            </a:r>
          </a:p>
          <a:p>
            <a:pPr algn="just">
              <a:lnSpc>
                <a:spcPts val="4145"/>
              </a:lnSpc>
            </a:pPr>
            <a:endParaRPr lang="en-US" sz="2736">
              <a:solidFill>
                <a:srgbClr val="21625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368</Words>
  <Application>Microsoft Office PowerPoint</Application>
  <PresentationFormat>Custom</PresentationFormat>
  <Paragraphs>78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Poppins</vt:lpstr>
      <vt:lpstr>Poppins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Media Pembelajaran Pertemua 2</dc:title>
  <cp:lastModifiedBy>GALIH JP</cp:lastModifiedBy>
  <cp:revision>3</cp:revision>
  <dcterms:created xsi:type="dcterms:W3CDTF">2006-08-16T00:00:00Z</dcterms:created>
  <dcterms:modified xsi:type="dcterms:W3CDTF">2026-04-29T14:41:09Z</dcterms:modified>
  <dc:identifier>DAHDMN94_ac</dc:identifier>
</cp:coreProperties>
</file>