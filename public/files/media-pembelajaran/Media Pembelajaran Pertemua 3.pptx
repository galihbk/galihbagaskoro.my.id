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3" y="0"/>
                </a:lnTo>
                <a:lnTo>
                  <a:pt x="48535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73623" y="7715250"/>
            <a:ext cx="4853594" cy="5143500"/>
          </a:xfrm>
          <a:custGeom>
            <a:avLst/>
            <a:gdLst/>
            <a:ahLst/>
            <a:cxnLst/>
            <a:rect r="r" b="b" t="t" l="l"/>
            <a:pathLst>
              <a:path h="5143500" w="4853594">
                <a:moveTo>
                  <a:pt x="0" y="0"/>
                </a:moveTo>
                <a:lnTo>
                  <a:pt x="4853594" y="0"/>
                </a:lnTo>
                <a:lnTo>
                  <a:pt x="485359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1637" y="2275417"/>
            <a:ext cx="14584725" cy="196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b="true" sz="8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MEDIA PEMBELAJARAN</a:t>
            </a:r>
          </a:p>
          <a:p>
            <a:pPr algn="ctr">
              <a:lnSpc>
                <a:spcPts val="5700"/>
              </a:lnSpc>
            </a:pP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LA</a:t>
            </a:r>
            <a:r>
              <a:rPr lang="en-US" b="true" sz="50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NDASAN &amp; PRINSIP MEDIA PEMBELAJARAN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143500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8790" y="-1205114"/>
            <a:ext cx="4963461" cy="6348614"/>
          </a:xfrm>
          <a:custGeom>
            <a:avLst/>
            <a:gdLst/>
            <a:ahLst/>
            <a:cxnLst/>
            <a:rect r="r" b="b" t="t" l="l"/>
            <a:pathLst>
              <a:path h="6348614" w="4963461">
                <a:moveTo>
                  <a:pt x="0" y="0"/>
                </a:moveTo>
                <a:lnTo>
                  <a:pt x="4963462" y="0"/>
                </a:lnTo>
                <a:lnTo>
                  <a:pt x="4963462" y="6348614"/>
                </a:lnTo>
                <a:lnTo>
                  <a:pt x="0" y="634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2820" y="4367549"/>
            <a:ext cx="14102361" cy="62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Pendidikan Ekonomi - STKIP Majenang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66245" y="5653424"/>
            <a:ext cx="14102361" cy="120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Galih Bagaskoro, M.Kom</a:t>
            </a:r>
          </a:p>
          <a:p>
            <a:pPr algn="ctr">
              <a:lnSpc>
                <a:spcPts val="4604"/>
              </a:lnSpc>
            </a:pPr>
            <a:r>
              <a:rPr lang="en-US" sz="4038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Pertemuan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PENDAHULUAN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3717295"/>
            <a:ext cx="13035383" cy="579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Proses pembelajaran tidak cukup hanya dengan penyampaian materi secara lisan.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Pemilihan media pembelajaran harus didasarkan pada pertimbangan yang tepat agar tujuan pembelajaran dapat tercapai secara optimal.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Tidak semua media cocok digunakan untuk semua materi, sehingga diperlukan pemahaman tentang landasan dan prinsip dalam penggunaannya.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54434" y="1028700"/>
            <a:ext cx="4140292" cy="2422071"/>
          </a:xfrm>
          <a:custGeom>
            <a:avLst/>
            <a:gdLst/>
            <a:ahLst/>
            <a:cxnLst/>
            <a:rect r="r" b="b" t="t" l="l"/>
            <a:pathLst>
              <a:path h="2422071" w="4140292">
                <a:moveTo>
                  <a:pt x="0" y="0"/>
                </a:moveTo>
                <a:lnTo>
                  <a:pt x="4140292" y="0"/>
                </a:lnTo>
                <a:lnTo>
                  <a:pt x="4140292" y="2422071"/>
                </a:lnTo>
                <a:lnTo>
                  <a:pt x="0" y="24220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26309" y="4436752"/>
            <a:ext cx="13035383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Apakah semua media pembelajaran cocok untuk semua materi?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Mengapa penggunaan media yang sama bisa berhasil di satu kelas, tetapi tidak di kelas lain?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Apa yang terjadi jika media dipilih tanpa pertimbangan yang tepat?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KENAPA PERLU LANDASAN?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375148"/>
            <a:ext cx="13814030" cy="475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tidak boleh digunakan secara asal, tetapi harus berdasarkan dasar yang jelas.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Landasan ini membantu guru dalam menentukan media yang sesuai dengan kondisi pembelajaran.</a:t>
            </a:r>
          </a:p>
          <a:p>
            <a:pPr algn="just">
              <a:lnSpc>
                <a:spcPts val="4145"/>
              </a:lnSpc>
            </a:pP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Tanpa landasan yang tepat, media justru dapat membuat pembelajaran menjadi tidak efektif.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5531" y="1601532"/>
            <a:ext cx="12217008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LANDASAN MEDIA PEMBELAJARAN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58509" y="3810434"/>
            <a:ext cx="13814030" cy="318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didasarkan pada beberapa landasan: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Landasan Psikologis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Landasan Empiris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Landasan Teknologis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Landasan Teoritis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52969" y="1601532"/>
            <a:ext cx="12519570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PENJELASAN LANDASAN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820" y="2782167"/>
            <a:ext cx="14994361" cy="5568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5521" indent="-327760" lvl="1">
              <a:lnSpc>
                <a:spcPts val="4949"/>
              </a:lnSpc>
              <a:buFont typeface="Arial"/>
              <a:buChar char="•"/>
            </a:pPr>
            <a:r>
              <a:rPr lang="en-US" b="true" sz="3036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Psikologis:</a:t>
            </a:r>
          </a:p>
          <a:p>
            <a:pPr algn="l">
              <a:lnSpc>
                <a:spcPts val="4949"/>
              </a:lnSpc>
            </a:pPr>
            <a:r>
              <a:rPr lang="en-US" sz="30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      Media harus sesuai dengan cara belajar siswa (visual, audio, dll)</a:t>
            </a:r>
          </a:p>
          <a:p>
            <a:pPr algn="l" marL="655521" indent="-327760" lvl="1">
              <a:lnSpc>
                <a:spcPts val="4949"/>
              </a:lnSpc>
              <a:buFont typeface="Arial"/>
              <a:buChar char="•"/>
            </a:pPr>
            <a:r>
              <a:rPr lang="en-US" b="true" sz="3036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Empiris:</a:t>
            </a:r>
          </a:p>
          <a:p>
            <a:pPr algn="l">
              <a:lnSpc>
                <a:spcPts val="4949"/>
              </a:lnSpc>
            </a:pPr>
            <a:r>
              <a:rPr lang="en-US" sz="30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      Berdasarkan pengalaman nyata bahwa media membantu pembelajaran</a:t>
            </a:r>
          </a:p>
          <a:p>
            <a:pPr algn="l" marL="655521" indent="-327760" lvl="1">
              <a:lnSpc>
                <a:spcPts val="4949"/>
              </a:lnSpc>
              <a:buFont typeface="Arial"/>
              <a:buChar char="•"/>
            </a:pPr>
            <a:r>
              <a:rPr lang="en-US" b="true" sz="3036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Teknologis:</a:t>
            </a:r>
          </a:p>
          <a:p>
            <a:pPr algn="l">
              <a:lnSpc>
                <a:spcPts val="4949"/>
              </a:lnSpc>
            </a:pPr>
            <a:r>
              <a:rPr lang="en-US" sz="30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     Memanfaatkan perkembangan teknologi dalam pendidikan</a:t>
            </a:r>
          </a:p>
          <a:p>
            <a:pPr algn="l" marL="655521" indent="-327760" lvl="1">
              <a:lnSpc>
                <a:spcPts val="4949"/>
              </a:lnSpc>
              <a:buFont typeface="Arial"/>
              <a:buChar char="•"/>
            </a:pPr>
            <a:r>
              <a:rPr lang="en-US" b="true" sz="3036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Teoritis:</a:t>
            </a:r>
          </a:p>
          <a:p>
            <a:pPr algn="l">
              <a:lnSpc>
                <a:spcPts val="4949"/>
              </a:lnSpc>
            </a:pPr>
            <a:r>
              <a:rPr lang="en-US" sz="30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      Berdasarkan teori belajar dan pendidikan</a:t>
            </a:r>
          </a:p>
          <a:p>
            <a:pPr algn="l">
              <a:lnSpc>
                <a:spcPts val="494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52969" y="1601532"/>
            <a:ext cx="12519570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3"/>
              </a:lnSpc>
            </a:pPr>
            <a:r>
              <a:rPr lang="en-US" sz="6600" b="true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PRINSIP MEDIA PEMBELAJARAN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5564" y="3731463"/>
            <a:ext cx="12236872" cy="482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7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Dalam memilih media pembelajaran, terdapat beberapa prinsip yang harus diperhatikan: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Sesuai dengan tujuan pembelajaran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Sesuai dengan materi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Sesuai dengan karakteristik peserta didik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Efektif dan efisien</a:t>
            </a:r>
          </a:p>
          <a:p>
            <a:pPr algn="just" marL="785058" indent="-392529" lvl="1">
              <a:lnSpc>
                <a:spcPts val="4727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Mudah digunakan</a:t>
            </a:r>
          </a:p>
          <a:p>
            <a:pPr algn="just">
              <a:lnSpc>
                <a:spcPts val="47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35496" y="1601532"/>
            <a:ext cx="12217008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MEDIA PEMBELAJARAN EKONOMI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6309" y="4160961"/>
            <a:ext cx="13035383" cy="422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Contoh media yang dapat digunakan dalam pembelajaran ekonomi: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Grafik pertumbuhan ekonomi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Diagram permintaan dan penawaran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Infografis inflasi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 pembelajaran ekonomi</a:t>
            </a:r>
          </a:p>
          <a:p>
            <a:pPr algn="just" marL="785058" indent="-392529" lvl="1">
              <a:lnSpc>
                <a:spcPts val="4145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Simulasi kegiatan pasar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01760" y="1859615"/>
            <a:ext cx="8684479" cy="1974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PENERAPAN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03032"/>
            <a:ext cx="13035383" cy="311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8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Materi: Permintaan dan Penawaran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Grafik → untuk menjelaskan konsep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Video → untuk penjelasan tambahan</a:t>
            </a:r>
          </a:p>
          <a:p>
            <a:pPr algn="just" marL="785058" indent="-392529" lvl="1">
              <a:lnSpc>
                <a:spcPts val="4908"/>
              </a:lnSpc>
              <a:buFont typeface="Arial"/>
              <a:buChar char="•"/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Simulasi → untuk praktik</a:t>
            </a:r>
          </a:p>
          <a:p>
            <a:pPr algn="just">
              <a:lnSpc>
                <a:spcPts val="490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52269" y="1859615"/>
            <a:ext cx="7383461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79232"/>
            <a:ext cx="13035383" cy="370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Media pembelajaran tidak hanya berfungsi sebagai alat bantu, tetapi harus digunakan berdasarkan landasan dan prinsip yang tepat.</a:t>
            </a:r>
          </a:p>
          <a:p>
            <a:pPr algn="just">
              <a:lnSpc>
                <a:spcPts val="4145"/>
              </a:lnSpc>
            </a:pPr>
            <a:r>
              <a:rPr lang="en-US" sz="36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Pemilihan media yang sesuai akan meningkatkan efektivitas pembelajaran dan membantu peserta didik memahami materi dengan lebih baik.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4624" y="-1856884"/>
            <a:ext cx="4471271" cy="4738341"/>
          </a:xfrm>
          <a:custGeom>
            <a:avLst/>
            <a:gdLst/>
            <a:ahLst/>
            <a:cxnLst/>
            <a:rect r="r" b="b" t="t" l="l"/>
            <a:pathLst>
              <a:path h="4738341" w="4471271">
                <a:moveTo>
                  <a:pt x="0" y="0"/>
                </a:moveTo>
                <a:lnTo>
                  <a:pt x="4471271" y="0"/>
                </a:lnTo>
                <a:lnTo>
                  <a:pt x="4471271" y="4738341"/>
                </a:lnTo>
                <a:lnTo>
                  <a:pt x="0" y="4738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06075" y="8267015"/>
            <a:ext cx="4332928" cy="4591735"/>
          </a:xfrm>
          <a:custGeom>
            <a:avLst/>
            <a:gdLst/>
            <a:ahLst/>
            <a:cxnLst/>
            <a:rect r="r" b="b" t="t" l="l"/>
            <a:pathLst>
              <a:path h="4591735" w="4332928">
                <a:moveTo>
                  <a:pt x="0" y="0"/>
                </a:moveTo>
                <a:lnTo>
                  <a:pt x="4332928" y="0"/>
                </a:lnTo>
                <a:lnTo>
                  <a:pt x="4332928" y="4591735"/>
                </a:lnTo>
                <a:lnTo>
                  <a:pt x="0" y="45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3810" y="1859615"/>
            <a:ext cx="8200379" cy="102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3"/>
              </a:lnSpc>
            </a:pPr>
            <a:r>
              <a:rPr lang="en-US" b="true" sz="6600">
                <a:solidFill>
                  <a:srgbClr val="21625D"/>
                </a:solidFill>
                <a:latin typeface="Poppins Bold"/>
                <a:ea typeface="Poppins Bold"/>
                <a:cs typeface="Poppins Bold"/>
                <a:sym typeface="Poppins Bold"/>
              </a:rPr>
              <a:t>DAFTAR PUSTAKA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481731" y="5907492"/>
            <a:ext cx="4366159" cy="5584622"/>
          </a:xfrm>
          <a:custGeom>
            <a:avLst/>
            <a:gdLst/>
            <a:ahLst/>
            <a:cxnLst/>
            <a:rect r="r" b="b" t="t" l="l"/>
            <a:pathLst>
              <a:path h="5584622" w="4366159">
                <a:moveTo>
                  <a:pt x="0" y="0"/>
                </a:moveTo>
                <a:lnTo>
                  <a:pt x="4366159" y="0"/>
                </a:lnTo>
                <a:lnTo>
                  <a:pt x="4366159" y="5584622"/>
                </a:lnTo>
                <a:lnTo>
                  <a:pt x="0" y="558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93892" y="-1205114"/>
            <a:ext cx="4418360" cy="5651391"/>
          </a:xfrm>
          <a:custGeom>
            <a:avLst/>
            <a:gdLst/>
            <a:ahLst/>
            <a:cxnLst/>
            <a:rect r="r" b="b" t="t" l="l"/>
            <a:pathLst>
              <a:path h="5651391" w="4418360">
                <a:moveTo>
                  <a:pt x="0" y="0"/>
                </a:moveTo>
                <a:lnTo>
                  <a:pt x="4418360" y="0"/>
                </a:lnTo>
                <a:lnTo>
                  <a:pt x="4418360" y="5651391"/>
                </a:lnTo>
                <a:lnTo>
                  <a:pt x="0" y="5651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58509" y="3969707"/>
            <a:ext cx="13035383" cy="36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Daryanto. (2016). Media Pembelajaran: Peranannya Sangat Penting dalam Mencapai Tujuan Pembelajaran. Yogyakarta: Gava Media.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Sanaky, H. A. (2013). Media Pembelajaran Interaktif-Inovatif. Yogyakarta: Kaukaba.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Arifin, A., Alimuddin, J., &amp; Pratiwi, W. (2024). Upaya Peningkatan Hasil Belajar melalui Media Audio Visual.</a:t>
            </a:r>
          </a:p>
          <a:p>
            <a:pPr algn="l" marL="590753" indent="-295376" lvl="1">
              <a:lnSpc>
                <a:spcPts val="3119"/>
              </a:lnSpc>
              <a:buFont typeface="Arial"/>
              <a:buChar char="•"/>
            </a:pPr>
            <a:r>
              <a:rPr lang="en-US" sz="2736">
                <a:solidFill>
                  <a:srgbClr val="21625D"/>
                </a:solidFill>
                <a:latin typeface="Poppins"/>
                <a:ea typeface="Poppins"/>
                <a:cs typeface="Poppins"/>
                <a:sym typeface="Poppins"/>
              </a:rPr>
              <a:t>Anggraini, F., et al. (2025). Pengembangan Media Pembelajaran Berbasis Virtual Reality.</a:t>
            </a:r>
          </a:p>
          <a:p>
            <a:pPr algn="just">
              <a:lnSpc>
                <a:spcPts val="414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DAHDMN94_ac</dc:identifier>
  <dcterms:modified xsi:type="dcterms:W3CDTF">2011-08-01T06:04:30Z</dcterms:modified>
  <cp:revision>1</cp:revision>
  <dc:title>Media Pembelajaran Pertemua 2</dc:title>
</cp:coreProperties>
</file>